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0" r:id="rId4"/>
    <p:sldId id="261" r:id="rId5"/>
    <p:sldId id="263" r:id="rId6"/>
    <p:sldId id="262" r:id="rId7"/>
    <p:sldId id="267" r:id="rId8"/>
    <p:sldId id="268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1"/>
    <p:restoredTop sz="94573"/>
  </p:normalViewPr>
  <p:slideViewPr>
    <p:cSldViewPr snapToGrid="0">
      <p:cViewPr>
        <p:scale>
          <a:sx n="75" d="100"/>
          <a:sy n="75" d="100"/>
        </p:scale>
        <p:origin x="48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BE4A3-20FE-68E2-255C-E8BFDBD3C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E1B6C-3FA7-2B45-9222-F5FD541E8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66FE9-EE1C-0AC4-FCC1-210B7FB5B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8B18-95EE-2B45-BCFB-3320E4A07FD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D1B23-26C6-A7EA-9680-08649292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E71CD-2B70-091A-2CCA-C5F5DD88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64F9-1F15-6B4A-AB8A-93E7A5473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45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807D-C05B-DA63-6BB4-73AB49380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71ADB-0C9A-8C26-FB16-220419ACC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A188B-9D13-C59A-B36B-D4023E2F1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8B18-95EE-2B45-BCFB-3320E4A07FD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7CBD1-D825-AEF9-CDBA-107DF6EB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2A907-2E3D-6073-68FE-15E7C2DF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64F9-1F15-6B4A-AB8A-93E7A5473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95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E6A6-DFBF-9F34-C86C-5D929996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6C94F-FA4A-B0C7-64F7-078D9D66A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9476A-CA4E-BAFB-A409-281D5328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8B18-95EE-2B45-BCFB-3320E4A07FD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F06FB-F66D-DA0A-B1C5-22266F148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04BCF-88E1-C719-B72C-8C2BBD87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64F9-1F15-6B4A-AB8A-93E7A5473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3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B7B08-3FC6-35B4-FA4A-1F6A16E2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3C6E8-3F97-E7A0-5A8B-A8223710F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9364C-683C-8008-B37D-25DE6C66B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B39BD-9F58-0DCE-4EBA-619B4F98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8B18-95EE-2B45-BCFB-3320E4A07FD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6D6F1-D52A-148E-D5F2-0A45B2573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1AA54-FF71-408B-DA83-7E203821B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64F9-1F15-6B4A-AB8A-93E7A5473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847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7A18-6F05-BB0A-E114-A689200F5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3EE40-A1D8-1A21-BA80-5CB2E3566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0C3E3-BB6C-AD41-C824-413CF3119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7BEA3-6B16-3F7B-3858-7CAC1A385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CF697-DBE8-F51C-7779-E93E7C7CE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D3DD1E-9039-BAF9-5F8C-28E32B107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8B18-95EE-2B45-BCFB-3320E4A07FD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4FD0F7-2A2C-C1A6-9B7F-AD02C8D9F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6A1958-1F02-E737-FDE0-FFB118515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64F9-1F15-6B4A-AB8A-93E7A5473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6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5412-65F9-DD90-AC2C-F1DDD882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F3FC6-26CC-5B37-41EC-B021C040D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8B18-95EE-2B45-BCFB-3320E4A07FD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E525B-789F-840A-1C21-D8219333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A4BEF-EDA4-1729-D40B-82FBFADA3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64F9-1F15-6B4A-AB8A-93E7A5473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0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97208F-B5EF-1AF0-F5F9-A2E4CEB2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8B18-95EE-2B45-BCFB-3320E4A07FD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D6AAE-C917-EDB8-9311-520DD1469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28FC8-7B7A-E7E0-0A8E-0A169144B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64F9-1F15-6B4A-AB8A-93E7A5473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0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163B-DD3B-2F3D-CDF5-009454DC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47E0C-9F72-B067-7292-B150F4A9F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E5E8F-06BE-803B-E93D-D0132AEDA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03617-27EF-3202-66A3-02D4A22B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8B18-95EE-2B45-BCFB-3320E4A07FD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6E0F6-85B8-DC08-0997-3A9E9763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21133-86A9-16D5-8CBB-BF86B127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64F9-1F15-6B4A-AB8A-93E7A5473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75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9370-B69B-78F5-F696-400AFD09F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604D3-2876-7CAA-F8EC-04E219704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9B17B-B2CF-987E-F682-84899F829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7FECA-0483-31EB-64F0-4DB0093F4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8B18-95EE-2B45-BCFB-3320E4A07FD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D197C-996F-06EF-8638-EDFE8B00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A9325-EA7E-C9EE-074E-5AA1508D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64F9-1F15-6B4A-AB8A-93E7A5473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88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27B0E-73AD-C3C1-1F74-82C38D71E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E56502-F0B1-7013-98B3-52BA53FDA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5811A-4E2F-4436-B6FB-9266F8AE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8B18-95EE-2B45-BCFB-3320E4A07FD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CFD8-E9F6-92A8-CC9A-53EB41160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0ABB7-FCAF-6D00-AA8E-7A87128A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64F9-1F15-6B4A-AB8A-93E7A5473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54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7DF406-E3A1-D2B9-B0B5-EC30EA05F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C525E-AAE1-7F50-28B6-DA5B42A14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A0603-8970-F329-F7EB-0CFCF66DC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8B18-95EE-2B45-BCFB-3320E4A07FD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991A1-D2CD-1169-62A5-CE0703B1A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96DB0-72D8-3B0A-6187-90D19A51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64F9-1F15-6B4A-AB8A-93E7A5473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00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D0B6A5-4A05-3ED9-4B4F-2B20D0AC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95369-56E4-0A5C-5C20-AA8AC27E0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00562-573B-F468-57C7-81FDE0956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58B18-95EE-2B45-BCFB-3320E4A07FD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03D07-7A05-AE81-C88B-55B37C097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F93B7-64D1-93DD-CD0E-CC9003E83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264F9-1F15-6B4A-AB8A-93E7A5473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B24E3C6-092B-3411-2DD1-E596D24D1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bracelet for health monitoring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8F9B2B24-F3B4-BC27-DBC9-1DC3FBB0D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Gladkykh Daria, Fateme Hosseini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01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50136-115E-4475-2830-7E504A800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077A9D-6BDF-8581-F212-288D4385C0A6}"/>
              </a:ext>
            </a:extLst>
          </p:cNvPr>
          <p:cNvSpPr txBox="1"/>
          <p:nvPr/>
        </p:nvSpPr>
        <p:spPr>
          <a:xfrm>
            <a:off x="511278" y="1083373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Main Objective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4E873-9380-7ABE-A586-4D4AA9AB2E1C}"/>
              </a:ext>
            </a:extLst>
          </p:cNvPr>
          <p:cNvSpPr txBox="1"/>
          <p:nvPr/>
        </p:nvSpPr>
        <p:spPr>
          <a:xfrm>
            <a:off x="511278" y="2040723"/>
            <a:ext cx="1026487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system that can detect early signs of heart sclerosis using continuous, non-invasive physiological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analyze patterns in Heart Rate Variability (HRV), pulse waveform, and activity levels from a smart bracelet to identify anomalies.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Today's Update: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show you the results of our foundational AI model and our hardware progress.</a:t>
            </a:r>
          </a:p>
        </p:txBody>
      </p:sp>
    </p:spTree>
    <p:extLst>
      <p:ext uri="{BB962C8B-B14F-4D97-AF65-F5344CB8AC3E}">
        <p14:creationId xmlns:p14="http://schemas.microsoft.com/office/powerpoint/2010/main" val="3879236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673C3-F873-9053-7A53-DED8ACFB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69C332-5257-929B-A36E-53F200C926D5}"/>
              </a:ext>
            </a:extLst>
          </p:cNvPr>
          <p:cNvSpPr txBox="1"/>
          <p:nvPr/>
        </p:nvSpPr>
        <p:spPr>
          <a:xfrm>
            <a:off x="511278" y="1083373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Development: What We Accomplished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6D4AD6-0D2B-0E09-93E6-450EBC3FAB6C}"/>
                  </a:ext>
                </a:extLst>
              </p:cNvPr>
              <p:cNvSpPr txBox="1"/>
              <p:nvPr/>
            </p:nvSpPr>
            <p:spPr>
              <a:xfrm>
                <a:off x="511278" y="2040723"/>
                <a:ext cx="10264877" cy="3002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 Data: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PulseDB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(MIMIC-III/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VitalDB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Derivative).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Processed Samples: 1,421 high-quality clinical samples (565 Low Risk, 856 High Risk).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Features Extracted (14 Total):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Heart Rate Variability (HRV): SDNN, RMSSD, pNN50.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PPG &amp; HR Metrics: Mean HR, pulse amplitude.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Clinical Data (Used for Labeling Only): Age, Systolic/Diastolic Blood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Pressure.Risk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Labeling: A Composite Cardiac Risk Score was engineered using established clinical thresholds (SDNN &lt; 50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Hypertension, Age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60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a necessary proxy for early-stage myocardial fibrosis/heart failure.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6D4AD6-0D2B-0E09-93E6-450EBC3FA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78" y="2040723"/>
                <a:ext cx="10264877" cy="3002745"/>
              </a:xfrm>
              <a:prstGeom prst="rect">
                <a:avLst/>
              </a:prstGeom>
              <a:blipFill>
                <a:blip r:embed="rId2"/>
                <a:stretch>
                  <a:fillRect l="-247" b="-1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109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E336-A194-0BAE-AF52-4334826B8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EAF1B0-56C3-CB75-7C96-920B0F32434B}"/>
              </a:ext>
            </a:extLst>
          </p:cNvPr>
          <p:cNvSpPr txBox="1"/>
          <p:nvPr/>
        </p:nvSpPr>
        <p:spPr>
          <a:xfrm>
            <a:off x="511278" y="1083373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 Selecting the Best Algorithm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5F45B-DE05-A88A-A1C1-4558EBECDD1A}"/>
              </a:ext>
            </a:extLst>
          </p:cNvPr>
          <p:cNvSpPr txBox="1"/>
          <p:nvPr/>
        </p:nvSpPr>
        <p:spPr>
          <a:xfrm>
            <a:off x="511278" y="1927720"/>
            <a:ext cx="102648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evaluated three models based on their performance on the held-out test dataset.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selected for its superior performance and stability.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C3F690-617B-2429-6268-0CA509D48F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2"/>
          <a:stretch>
            <a:fillRect/>
          </a:stretch>
        </p:blipFill>
        <p:spPr bwMode="auto">
          <a:xfrm>
            <a:off x="6610326" y="2548698"/>
            <a:ext cx="4665662" cy="322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F4CBC7-5E46-FF59-D73F-8AE10D22B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666419"/>
              </p:ext>
            </p:extLst>
          </p:nvPr>
        </p:nvGraphicFramePr>
        <p:xfrm>
          <a:off x="511278" y="2873378"/>
          <a:ext cx="5347656" cy="1584960"/>
        </p:xfrm>
        <a:graphic>
          <a:graphicData uri="http://schemas.openxmlformats.org/drawingml/2006/table">
            <a:tbl>
              <a:tblPr/>
              <a:tblGrid>
                <a:gridCol w="2673828">
                  <a:extLst>
                    <a:ext uri="{9D8B030D-6E8A-4147-A177-3AD203B41FA5}">
                      <a16:colId xmlns:a16="http://schemas.microsoft.com/office/drawing/2014/main" val="3888061028"/>
                    </a:ext>
                  </a:extLst>
                </a:gridCol>
                <a:gridCol w="2673828">
                  <a:extLst>
                    <a:ext uri="{9D8B030D-6E8A-4147-A177-3AD203B41FA5}">
                      <a16:colId xmlns:a16="http://schemas.microsoft.com/office/drawing/2014/main" val="2551925055"/>
                    </a:ext>
                  </a:extLst>
                </a:gridCol>
              </a:tblGrid>
              <a:tr h="3696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600" b="1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CA" sz="160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600" b="1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(on Test Data)</a:t>
                      </a:r>
                      <a:endParaRPr lang="en-CA" sz="160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415229"/>
                  </a:ext>
                </a:extLst>
              </a:tr>
              <a:tr h="3696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60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60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91.6%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570506"/>
                  </a:ext>
                </a:extLst>
              </a:tr>
              <a:tr h="3696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60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60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98.2%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331600"/>
                  </a:ext>
                </a:extLst>
              </a:tr>
              <a:tr h="3696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600" b="1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 (Selected)</a:t>
                      </a:r>
                      <a:endParaRPr lang="en-CA" sz="160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600" b="1" dirty="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98.6%</a:t>
                      </a:r>
                      <a:endParaRPr lang="en-CA" sz="1600" dirty="0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208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A6D4AFF-2504-EA7E-0774-846421681326}"/>
              </a:ext>
            </a:extLst>
          </p:cNvPr>
          <p:cNvSpPr txBox="1"/>
          <p:nvPr/>
        </p:nvSpPr>
        <p:spPr>
          <a:xfrm>
            <a:off x="511278" y="4783162"/>
            <a:ext cx="5855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We are moving forward with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as our foundational classifier.</a:t>
            </a:r>
          </a:p>
        </p:txBody>
      </p:sp>
    </p:spTree>
    <p:extLst>
      <p:ext uri="{BB962C8B-B14F-4D97-AF65-F5344CB8AC3E}">
        <p14:creationId xmlns:p14="http://schemas.microsoft.com/office/powerpoint/2010/main" val="154276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C1087-448D-A123-1387-FB23B37E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60A36A-CC90-DA57-8C67-E704930058E3}"/>
              </a:ext>
            </a:extLst>
          </p:cNvPr>
          <p:cNvSpPr txBox="1"/>
          <p:nvPr/>
        </p:nvSpPr>
        <p:spPr>
          <a:xfrm>
            <a:off x="511278" y="1083373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Validation &amp; Error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5161B0-1A81-B270-AA64-6F9798CAA863}"/>
              </a:ext>
            </a:extLst>
          </p:cNvPr>
          <p:cNvSpPr txBox="1"/>
          <p:nvPr/>
        </p:nvSpPr>
        <p:spPr>
          <a:xfrm>
            <a:off x="511278" y="1764257"/>
            <a:ext cx="10264877" cy="411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High Sensitivity is critical for a screening tool to minimize missed cases.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 (on Unseen Test Set, n=285):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Sensitivity: 99.4% (171 True Positives / 172 Actual High-Risk Cases).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Specificity: 97.3% (110 True Negatives / 113 Actual Low-Risk Cases).</a:t>
            </a:r>
          </a:p>
          <a:p>
            <a:pPr lvl="1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Breakdown (Confusion Matrix):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False Negative (a missed high-risk case) was observed out of 172.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Implication: This low false-negative rate confirms a strong potential for reliably flagging at-risk individuals for further clinical review.</a:t>
            </a:r>
          </a:p>
        </p:txBody>
      </p:sp>
    </p:spTree>
    <p:extLst>
      <p:ext uri="{BB962C8B-B14F-4D97-AF65-F5344CB8AC3E}">
        <p14:creationId xmlns:p14="http://schemas.microsoft.com/office/powerpoint/2010/main" val="2323162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A1A3D-AA30-F34A-AD82-171D4E25D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A7BAE0-C468-559B-8F8A-FC567CC3CDB1}"/>
              </a:ext>
            </a:extLst>
          </p:cNvPr>
          <p:cNvSpPr txBox="1"/>
          <p:nvPr/>
        </p:nvSpPr>
        <p:spPr>
          <a:xfrm>
            <a:off x="511278" y="1083373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Testing for Generalization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B6C0F-D2F5-0D8B-C4E5-3EC2DA168172}"/>
              </a:ext>
            </a:extLst>
          </p:cNvPr>
          <p:cNvSpPr txBox="1"/>
          <p:nvPr/>
        </p:nvSpPr>
        <p:spPr>
          <a:xfrm>
            <a:off x="511278" y="2040723"/>
            <a:ext cx="10264877" cy="3741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To ensure the model is stable and not biased by the original clinical sensor setup.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1: K-Fold Cross-Validation (Stability):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0.982 ± 0.012. Low standard deviation confirms high stability and reproducibility.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2: Cross-Dataset Generalization (Invariance):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MIMIC -&gt; Tested 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VitalDB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Maintained high performance (~92.0% accuracy).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Implication: The model learned fundamental physiological markers, not just measurement artifacts, making it a viable candidate for the wrist sensor.</a:t>
            </a:r>
          </a:p>
        </p:txBody>
      </p:sp>
    </p:spTree>
    <p:extLst>
      <p:ext uri="{BB962C8B-B14F-4D97-AF65-F5344CB8AC3E}">
        <p14:creationId xmlns:p14="http://schemas.microsoft.com/office/powerpoint/2010/main" val="3679657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E21BF-12EF-0EF7-DD54-79DB9F45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9E293A-CA9F-81D8-9B7F-BF0E360D55A0}"/>
              </a:ext>
            </a:extLst>
          </p:cNvPr>
          <p:cNvSpPr txBox="1"/>
          <p:nvPr/>
        </p:nvSpPr>
        <p:spPr>
          <a:xfrm>
            <a:off x="511277" y="1083373"/>
            <a:ext cx="6469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Test: Separating Wearable Features from Clinical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74BA9-86C0-9543-0496-EBA125A18F70}"/>
              </a:ext>
            </a:extLst>
          </p:cNvPr>
          <p:cNvSpPr txBox="1"/>
          <p:nvPr/>
        </p:nvSpPr>
        <p:spPr>
          <a:xfrm>
            <a:off x="511278" y="1764257"/>
            <a:ext cx="10264877" cy="411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Validate that the model is not dependent on the clinical features (Age/BP) that the bracelet cannot measure.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Reasoning Test: We trained a new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EXCLUDING all clinical metadata (Age, BP, and all HRV features that defined the label). We used only the independent PPG morphology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(Full Model): 98.6%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(Independent PPG Features Only): 94.4%</a:t>
            </a:r>
          </a:p>
          <a:p>
            <a:pPr lvl="1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Implication: The core PPG-derived features alone remain highly predictive, losing only 4.2% accuracy. This validates our focus on the wrist-sensor data.</a:t>
            </a:r>
          </a:p>
        </p:txBody>
      </p:sp>
    </p:spTree>
    <p:extLst>
      <p:ext uri="{BB962C8B-B14F-4D97-AF65-F5344CB8AC3E}">
        <p14:creationId xmlns:p14="http://schemas.microsoft.com/office/powerpoint/2010/main" val="1505759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51541-C20B-F8D7-AF89-357632755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8BBF00-0FED-AB39-E438-D5125FAB51D5}"/>
              </a:ext>
            </a:extLst>
          </p:cNvPr>
          <p:cNvSpPr txBox="1"/>
          <p:nvPr/>
        </p:nvSpPr>
        <p:spPr>
          <a:xfrm>
            <a:off x="511277" y="1083373"/>
            <a:ext cx="6469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Dilemma: The Challenge of Real-World Motion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7C235C-62E7-6443-1310-23195E9B3D3E}"/>
              </a:ext>
            </a:extLst>
          </p:cNvPr>
          <p:cNvSpPr txBox="1"/>
          <p:nvPr/>
        </p:nvSpPr>
        <p:spPr>
          <a:xfrm>
            <a:off x="511278" y="1764257"/>
            <a:ext cx="10264877" cy="448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Phase 2: Make the model robust to motion artifacts.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Finding (PPG-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DaLiA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Exploration): Our current high-quality filtering rejects 44.6% of data windows due to motion.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Dilemma: Option 1 (Current):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all motion. Keeps 98% accuracy for sedentary times.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2 (Desired): Accept all motion. Achieves 24/7 coverage, but severely compromises HRV validity and lowers accuracy.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Hybrid (Dual-Model)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ArchitectureWe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train two specialized models and use the accelerometer to smartly switch between them, ensuring high confidence when stationary and continuous coverage when moving.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3742CA-44CA-2B4C-84D5-2594A6286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8220" y="104348"/>
            <a:ext cx="3500232" cy="23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779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F0AD6-CDF2-9CF5-2F70-3D432F98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406F2E-8BE4-2A81-D1CA-922AAF0AF797}"/>
              </a:ext>
            </a:extLst>
          </p:cNvPr>
          <p:cNvSpPr txBox="1"/>
          <p:nvPr/>
        </p:nvSpPr>
        <p:spPr>
          <a:xfrm>
            <a:off x="511277" y="787159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E92DA4-AEA8-3886-2192-A1DFDA4C2749}"/>
              </a:ext>
            </a:extLst>
          </p:cNvPr>
          <p:cNvSpPr txBox="1"/>
          <p:nvPr/>
        </p:nvSpPr>
        <p:spPr>
          <a:xfrm>
            <a:off x="511277" y="1519558"/>
            <a:ext cx="10732455" cy="4849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Finish High-Confidence Model (Current Focus)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processing all 15 subjects using strict quality filtering.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Deliverable: A model with &gt;97\% accuracy used only during stationary periods (e.g., sitting, sleeping).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Build Motion-Robust Pipeline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Relax quality filtering using the PPG-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DaLiA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second model using motion-safe features (basic HR, PPG morphology) and exclude unreliable HRV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3: Implement Smart Switching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logic to use accelerometer data to select the appropriate model and assign a Confidence Score to every prediction.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Goal: Combine the motion-robust AI with our custom hardware to create the final, deployable system3</a:t>
            </a:r>
          </a:p>
        </p:txBody>
      </p:sp>
    </p:spTree>
    <p:extLst>
      <p:ext uri="{BB962C8B-B14F-4D97-AF65-F5344CB8AC3E}">
        <p14:creationId xmlns:p14="http://schemas.microsoft.com/office/powerpoint/2010/main" val="2362300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2B41C-39E4-0E62-1742-3B78F724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873CEC-3D9A-0D0C-A129-D5C4E2761D13}"/>
              </a:ext>
            </a:extLst>
          </p:cNvPr>
          <p:cNvSpPr txBox="1"/>
          <p:nvPr/>
        </p:nvSpPr>
        <p:spPr>
          <a:xfrm>
            <a:off x="511277" y="684128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Progress Update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E9E743-5B84-9F37-3777-D338EF92D495}"/>
              </a:ext>
            </a:extLst>
          </p:cNvPr>
          <p:cNvSpPr txBox="1"/>
          <p:nvPr/>
        </p:nvSpPr>
        <p:spPr>
          <a:xfrm>
            <a:off x="511277" y="1274860"/>
            <a:ext cx="10732455" cy="521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 + Heart Rate Sensor (PPG – MAX30102)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did obtain clean, synchronized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tried to connect the heart rate sensor directly to the T-Watch S3 Plus - devices detect each other but still we need to have improvements on this, because its not possible to wear for now. Most probably we will work with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constractions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Side (Data Collection):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starts for the a lightweight app running on laptop to act as a temporary server. So we r able to have the watch connects (one-time pairing) and sends buffered data when enough samples are collected.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connection communication for smooth, automatic reconnection.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user friendly design for the watches so they could really be wearable.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buffering and timestamp synchronization between accelerometer and PPG.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structure signals for later correlation (e.g., HRV, activity trends, HR spikes).</a:t>
            </a:r>
          </a:p>
        </p:txBody>
      </p:sp>
    </p:spTree>
    <p:extLst>
      <p:ext uri="{BB962C8B-B14F-4D97-AF65-F5344CB8AC3E}">
        <p14:creationId xmlns:p14="http://schemas.microsoft.com/office/powerpoint/2010/main" val="1284267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980</Words>
  <Application>Microsoft Macintosh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Times New Roman</vt:lpstr>
      <vt:lpstr>Office Theme</vt:lpstr>
      <vt:lpstr>AI bracelet for health monitoring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HOSSEINI</dc:creator>
  <cp:lastModifiedBy>FATEME HOSSEINI</cp:lastModifiedBy>
  <cp:revision>10</cp:revision>
  <dcterms:created xsi:type="dcterms:W3CDTF">2025-11-04T11:06:13Z</dcterms:created>
  <dcterms:modified xsi:type="dcterms:W3CDTF">2025-11-06T09:58:06Z</dcterms:modified>
</cp:coreProperties>
</file>